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urvia_bg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2736" y="1828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7040"/>
                </a:solidFill>
                <a:latin typeface="Aptos"/>
              </a:rPr>
              <a:t>INVESTERARTEASER  ·  SEED-RUNDA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21945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7040"/>
                </a:solidFill>
                <a:latin typeface="Aptos Display"/>
              </a:rPr>
              <a:t>Recurvia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91640"/>
            <a:ext cx="516636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Aptos Display"/>
              </a:rPr>
              <a:t>Nästa generations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14600"/>
            <a:ext cx="49560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Aptos"/>
              </a:rPr>
              <a:t>Ny perceptron (AI-neuron) med skalfördelar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" y="2944368"/>
            <a:ext cx="5056632" cy="0"/>
          </a:xfrm>
          <a:prstGeom prst="line">
            <a:avLst/>
          </a:prstGeom>
          <a:ln w="762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3017520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7040"/>
                </a:solidFill>
                <a:latin typeface="Aptos"/>
              </a:rPr>
              <a:t>Snabbare  ·  Smartare  ·  Testad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6" y="3438144"/>
            <a:ext cx="5056632" cy="0"/>
          </a:xfrm>
          <a:prstGeom prst="line">
            <a:avLst/>
          </a:prstGeom>
          <a:ln w="762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511296"/>
            <a:ext cx="4956048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tos"/>
              </a:rPr>
              <a:t>Dr. Martin Olsson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A5A5A"/>
                </a:solidFill>
                <a:latin typeface="Aptos"/>
              </a:rPr>
              <a:t>Grundare &amp; teknisk ledare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144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877824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7040"/>
                </a:solidFill>
                <a:latin typeface="Aptos"/>
              </a:rPr>
              <a:t>PROBLEMET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ptos Display"/>
              </a:rPr>
              <a:t>AI-modeller är </a:t>
            </a:r>
            <a:r>
              <a:rPr sz="3200" b="1">
                <a:solidFill>
                  <a:srgbClr val="F07040"/>
                </a:solidFill>
                <a:latin typeface="Aptos Display"/>
              </a:rPr>
              <a:t>ohållbart stora och dyra att köra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ptos"/>
              </a:rPr>
              <a:t>Moderna neurala nätverk skalas upp exponentiellt i storlek, men prestandan ökar marginellt. Inferenskostnaden, energiförbrukningen och latensen gör storskalig AI-driftsättning ekonomiskt och miljömässigt ohållbar — särskilt på edge-enheter.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2468880" cy="1737360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92608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213969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7040"/>
                </a:solidFill>
                <a:latin typeface="Aptos Display"/>
              </a:rPr>
              <a:t>10×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758184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7040"/>
                </a:solidFill>
                <a:latin typeface="Aptos"/>
              </a:rPr>
              <a:t>per 2 år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959352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Genomsnittlig ökning av AI-modellstorlek (parametrar) sedan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788920"/>
            <a:ext cx="2468880" cy="1737360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292608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319272"/>
            <a:ext cx="213969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3010"/>
                </a:solidFill>
                <a:latin typeface="Aptos Display"/>
              </a:rPr>
              <a:t>$100 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58184"/>
            <a:ext cx="2139696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Uppskattad träningskostnad för ett enda frontier-modell (GPT-4-klass)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788920"/>
            <a:ext cx="2468880" cy="1737360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33872" y="292608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3319272"/>
            <a:ext cx="2139696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828"/>
                </a:solidFill>
                <a:latin typeface="Aptos Display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758184"/>
            <a:ext cx="2139696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Andel av globalt datacenterenergi som beräknas komma från AI år 2030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4736592"/>
            <a:ext cx="7772400" cy="658368"/>
          </a:xfrm>
          <a:prstGeom prst="roundRect">
            <a:avLst>
              <a:gd name="adj" fmla="val 4000"/>
            </a:avLst>
          </a:prstGeom>
          <a:solidFill>
            <a:srgbClr val="FBE0D0"/>
          </a:solidFill>
          <a:ln w="1905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4892040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892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28032"/>
            <a:ext cx="704088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7040"/>
                </a:solidFill>
                <a:latin typeface="Aptos"/>
              </a:rPr>
              <a:t>Investeringscase: </a:t>
            </a:r>
            <a:r>
              <a:rPr sz="1050" b="0">
                <a:solidFill>
                  <a:srgbClr val="5A5A5A"/>
                </a:solidFill>
                <a:latin typeface="Aptos"/>
              </a:rPr>
              <a:t>en ny beräkningsarkitektur som bryter sambandet mellan modellstorlek och prestanda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144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877824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7040"/>
                </a:solidFill>
                <a:latin typeface="Aptos"/>
              </a:rPr>
              <a:t>LÖSNINGEN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Aptos Display"/>
              </a:rPr>
              <a:t>Hilbert-perceptronen —</a:t>
            </a:r>
          </a:p>
          <a:p>
            <a:pPr algn="l">
              <a:spcBef>
                <a:spcPts val="200"/>
              </a:spcBef>
            </a:pPr>
            <a:r>
              <a:rPr sz="3400" b="1">
                <a:solidFill>
                  <a:srgbClr val="F07040"/>
                </a:solidFill>
                <a:latin typeface="Aptos Display"/>
              </a:rPr>
              <a:t>AI med matematisk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40864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ptos"/>
              </a:rPr>
              <a:t>HilbertNet™ — en single-layer neuronal arkitektur baserad på ortogonala Hilbert-rum-bassystem som ersätter djupa, redundanta MLP-nätverk med en matematiskt optimal projektion.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9992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A7A70"/>
                </a:solidFill>
                <a:latin typeface="Aptos"/>
              </a:rPr>
              <a:t>INDIKATIV POTENTIAL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" y="3255264"/>
            <a:ext cx="655624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76072" y="3337560"/>
            <a:ext cx="2148840" cy="1572768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34747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867912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7040"/>
                </a:solidFill>
                <a:latin typeface="Aptos Display"/>
              </a:rPr>
              <a:t>30–60×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379975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Färre träningsbara parametrar jämfört med ekvivalent MLP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2" y="3337560"/>
            <a:ext cx="2148840" cy="1572768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72384" y="34747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3867912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3010"/>
                </a:solidFill>
                <a:latin typeface="Aptos Display"/>
              </a:rPr>
              <a:t>Exp.
konvergens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4379975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Spektral konvergenshastighet för analytiska funktioner vs polynomisk för MLP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9512" y="3337560"/>
            <a:ext cx="2148840" cy="1572768"/>
          </a:xfrm>
          <a:prstGeom prst="roundRect">
            <a:avLst>
              <a:gd name="adj" fmla="val 5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4104" y="34747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3867912"/>
            <a:ext cx="1819656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828"/>
                </a:solidFill>
                <a:latin typeface="Aptos Display"/>
              </a:rPr>
              <a:t>Unik global
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379975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Konvex förlustfunktion garanterar optimal lösning utan lokala minima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5047488"/>
            <a:ext cx="6675120" cy="1115568"/>
          </a:xfrm>
          <a:prstGeom prst="roundRect">
            <a:avLst>
              <a:gd name="adj" fmla="val 4000"/>
            </a:avLst>
          </a:prstGeom>
          <a:solidFill>
            <a:srgbClr val="FBE0D0"/>
          </a:solidFill>
          <a:ln w="1905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04104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0410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5138928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07040"/>
                </a:solidFill>
                <a:latin typeface="Aptos"/>
              </a:rPr>
              <a:t>HilbertNet™ — Ortogonal bassystemsarkitektur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5A5A"/>
                </a:solidFill>
                <a:latin typeface="Aptos"/>
              </a:rPr>
              <a:t>Legendre  ·  Fourier  ·  Hermite  ·  Clifford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Aptos"/>
              </a:rPr>
              <a:t>Med adaptiv Gram-Schmidt-expansion.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144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877824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7040"/>
                </a:solidFill>
                <a:latin typeface="Aptos"/>
              </a:rPr>
              <a:t>TEKNOLOGIN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ptos Display"/>
              </a:rPr>
              <a:t>Hilbert Space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F07040"/>
                </a:solidFill>
                <a:latin typeface="Aptos Display"/>
              </a:rPr>
              <a:t>Perceptron-arkitekturen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57984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Aptos"/>
              </a:rPr>
              <a:t>En radikalt förenklad och matematiskt rigorös pipeline som ersätter
djupa nätverk med ortogonala basfunktioner och adaptiv rekursion.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98648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7040"/>
                </a:solidFill>
                <a:latin typeface="Aptos"/>
              </a:rPr>
              <a:t>Indata (x₁, x₂)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981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Rådata matas in i systemet.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447288"/>
            <a:ext cx="4709160" cy="0"/>
          </a:xfrm>
          <a:prstGeom prst="line">
            <a:avLst/>
          </a:prstGeom>
          <a:ln w="4445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502152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02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8386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7040"/>
                </a:solidFill>
                <a:latin typeface="Aptos"/>
              </a:rPr>
              <a:t>Formellt System &amp; Hilbert-bas (φ₁…φN)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Indata projiceras på en ortogonal bas (Legendre, Fourier, Hermite, Clifford).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050792"/>
            <a:ext cx="4709160" cy="0"/>
          </a:xfrm>
          <a:prstGeom prst="line">
            <a:avLst/>
          </a:prstGeom>
          <a:ln w="4445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4105656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056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8736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7040"/>
                </a:solidFill>
                <a:latin typeface="Aptos"/>
              </a:rPr>
              <a:t>Viktad Summering (Σ) &amp; Bias (b)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0682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Linjär kombination med träningsbara vikter (wᵀ).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4654296"/>
            <a:ext cx="4709160" cy="0"/>
          </a:xfrm>
          <a:prstGeom prst="line">
            <a:avLst/>
          </a:prstGeom>
          <a:ln w="4445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47091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08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7040"/>
                </a:solidFill>
                <a:latin typeface="Aptos"/>
              </a:rPr>
              <a:t>Aktivering (ρ) &amp; Utdata (ŷ)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1032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Genererar slutgiltig prediktion.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5257800"/>
            <a:ext cx="4709160" cy="0"/>
          </a:xfrm>
          <a:prstGeom prst="line">
            <a:avLst/>
          </a:prstGeom>
          <a:ln w="4445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531266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8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126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9437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3010"/>
                </a:solidFill>
                <a:latin typeface="Aptos"/>
              </a:rPr>
              <a:t>Gram-Schmidt Rekursiv 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1383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Adaptiv återkoppling som genererar nya ortogonala basfunktioner (φN+1) vid behov.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5861304"/>
            <a:ext cx="4709160" cy="0"/>
          </a:xfrm>
          <a:prstGeom prst="line">
            <a:avLst/>
          </a:prstGeom>
          <a:ln w="4445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0" y="777240"/>
            <a:ext cx="6492240" cy="5440680"/>
          </a:xfrm>
          <a:prstGeom prst="roundRect">
            <a:avLst>
              <a:gd name="adj" fmla="val 1500"/>
            </a:avLst>
          </a:prstGeom>
          <a:solidFill>
            <a:srgbClr val="FBE0D0"/>
          </a:solidFill>
          <a:ln w="1016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9144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ptos"/>
              </a:rPr>
              <a:t>Formellt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1612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Aptos"/>
              </a:rPr>
              <a:t>Hilbert-bas {φᵢ}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15544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15544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ptos"/>
              </a:rPr>
              <a:t>φ₁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359152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ptos"/>
              </a:rPr>
              <a:t>φ₂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3163824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A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31638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7A70"/>
                </a:solidFill>
                <a:latin typeface="Aptos"/>
              </a:rPr>
              <a:t>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968496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9684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ptos"/>
              </a:rPr>
              <a:t>φN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87568" y="192024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E85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87568" y="19202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x₁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7568" y="283464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E85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2834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x₂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251460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25146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251460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85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25146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20" y="251460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C8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20" y="25146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ŷ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461504" y="1764792.0"/>
            <a:ext cx="859536" cy="1014984.0"/>
          </a:xfrm>
          <a:prstGeom prst="line">
            <a:avLst/>
          </a:prstGeom>
          <a:ln w="7620">
            <a:solidFill>
              <a:srgbClr val="F5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461504" y="2569464.0"/>
            <a:ext cx="859536" cy="210312.0"/>
          </a:xfrm>
          <a:prstGeom prst="line">
            <a:avLst/>
          </a:prstGeom>
          <a:ln w="7620">
            <a:solidFill>
              <a:srgbClr val="F5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461504" y="2779776.0"/>
            <a:ext cx="859536" cy="1399032.0"/>
          </a:xfrm>
          <a:prstGeom prst="line">
            <a:avLst/>
          </a:prstGeom>
          <a:ln w="7620">
            <a:solidFill>
              <a:srgbClr val="F5B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851392" y="2779776.0"/>
            <a:ext cx="475488" cy="0.0"/>
          </a:xfrm>
          <a:prstGeom prst="line">
            <a:avLst/>
          </a:prstGeom>
          <a:ln w="19050">
            <a:solidFill>
              <a:srgbClr val="F07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857232" y="2779776.0"/>
            <a:ext cx="475488" cy="0.0"/>
          </a:xfrm>
          <a:prstGeom prst="line">
            <a:avLst/>
          </a:prstGeom>
          <a:ln w="19050">
            <a:solidFill>
              <a:srgbClr val="E85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35440" y="2167128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7A70"/>
                </a:solidFill>
                <a:latin typeface="Aptos"/>
              </a:rPr>
              <a:t>Aktivering (ρ)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2167128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7A70"/>
                </a:solidFill>
                <a:latin typeface="Aptos"/>
              </a:rPr>
              <a:t>Utdata (ŷ)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96128" y="155448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7A70"/>
                </a:solidFill>
                <a:latin typeface="Aptos"/>
              </a:rPr>
              <a:t>Indata
(x₁, x₂)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3794760"/>
            <a:ext cx="356616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8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38862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3010"/>
                </a:solidFill>
                <a:latin typeface="Aptos"/>
              </a:rPr>
              <a:t>Gram-Schmidt Rekursiv Controller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14223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Adaptiv återkoppling som genererar nya ortogonala basfunktioner vid behov.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846320"/>
            <a:ext cx="6080760" cy="7498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620">
            <a:solidFill>
              <a:srgbClr val="E0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06440" y="491947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7040"/>
                </a:solidFill>
                <a:latin typeface="Aptos"/>
              </a:rPr>
              <a:t>Matematisk grund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517550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Aptos"/>
              </a:rPr>
              <a:t>Beslutsgräns:  wᵀφ(y) + b = 0  skapar en krökt mångfald i ℝⁿ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517550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  <a:latin typeface="Aptos"/>
              </a:rPr>
              <a:t>Ortogonalitet:  ⟨φᵢ|φⱼ⟩ = δᵢⱼ  garanterar noll redundans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9144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877824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7040"/>
                </a:solidFill>
                <a:latin typeface="Aptos"/>
              </a:rPr>
              <a:t>SEED-RUNDA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2578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Aptos Display"/>
              </a:rPr>
              <a:t>8 MSEK för att</a:t>
            </a:r>
          </a:p>
          <a:p>
            <a:pPr algn="l">
              <a:spcBef>
                <a:spcPts val="200"/>
              </a:spcBef>
            </a:pPr>
            <a:r>
              <a:rPr sz="3600" b="1">
                <a:solidFill>
                  <a:srgbClr val="F07040"/>
                </a:solidFill>
                <a:latin typeface="Aptos Display"/>
              </a:rPr>
              <a:t>validera HilbertNet™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359152"/>
            <a:ext cx="516636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ptos"/>
              </a:rPr>
              <a:t>Kapitalet tar arkitekturen från matematisk proof-of-concept till benchmarkvaliderad mjukvarubiblioteksplattform redo för industriell licensiering och edge-AI-integration.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264408"/>
            <a:ext cx="91440" cy="91440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469087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ptos"/>
              </a:rPr>
              <a:t>Open-source referensimplementation (PyTorch/JAX)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64845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584448"/>
            <a:ext cx="469087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ptos"/>
              </a:rPr>
              <a:t>Benchmarkvalidering mot GPT-2-klass MLP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032504"/>
            <a:ext cx="91440" cy="91440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68496"/>
            <a:ext cx="469087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ptos"/>
              </a:rPr>
              <a:t>PoC edge-deployment på ARM Cortex-M &amp; RISC-V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4416552"/>
            <a:ext cx="91440" cy="91440"/>
          </a:xfrm>
          <a:prstGeom prst="roundRect">
            <a:avLst>
              <a:gd name="adj" fmla="val 25000"/>
            </a:avLst>
          </a:prstGeom>
          <a:solidFill>
            <a:srgbClr val="F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352544"/>
            <a:ext cx="469087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ptos"/>
              </a:rPr>
              <a:t>Första industriella pilotpartner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919472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ptos"/>
              </a:rPr>
              <a:t>Söker strategiska seed-investerare och industriella partners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5212080"/>
            <a:ext cx="5486400" cy="658368"/>
          </a:xfrm>
          <a:prstGeom prst="roundRect">
            <a:avLst>
              <a:gd name="adj" fmla="val 4000"/>
            </a:avLst>
          </a:prstGeom>
          <a:solidFill>
            <a:srgbClr val="FBE0D0"/>
          </a:solidFill>
          <a:ln w="1524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5285232"/>
            <a:ext cx="521208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5A"/>
                </a:solidFill>
                <a:latin typeface="Aptos"/>
              </a:rPr>
              <a:t>Målet är att skapa ett tekniskt datapaket för Serie A och strategiska partnerskap.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urvia_bg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656" y="164592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A1A1A"/>
                </a:solidFill>
                <a:latin typeface="Aptos Display"/>
              </a:rPr>
              <a:t>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2697480"/>
            <a:ext cx="4956048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ptos"/>
              </a:rPr>
              <a:t>Tillsammans bygger vi AI som är lika elegant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07040"/>
                </a:solidFill>
                <a:latin typeface="Aptos"/>
              </a:rPr>
              <a:t>som matematiken den vilar på.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3611880"/>
            <a:ext cx="4956048" cy="658368"/>
          </a:xfrm>
          <a:prstGeom prst="roundRect">
            <a:avLst>
              <a:gd name="adj" fmla="val 4000"/>
            </a:avLst>
          </a:prstGeom>
          <a:solidFill>
            <a:srgbClr val="FBE0D0"/>
          </a:solidFill>
          <a:ln w="1905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376732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F5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3767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675887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07040"/>
                </a:solidFill>
                <a:latin typeface="Aptos"/>
              </a:rPr>
              <a:t>HilbertNet™</a:t>
            </a:r>
            <a:r>
              <a:rPr sz="1150" b="1">
                <a:solidFill>
                  <a:srgbClr val="1A1A1A"/>
                </a:solidFill>
                <a:latin typeface="Aptos"/>
              </a:rPr>
              <a:t> — Ortogonal AI-arkitektur.  </a:t>
            </a:r>
            <a:r>
              <a:rPr sz="1050" b="0">
                <a:solidFill>
                  <a:srgbClr val="5A5A5A"/>
                </a:solidFill>
                <a:latin typeface="Aptos"/>
              </a:rPr>
              <a:t>För en effektivare och mer hållbar AI-framtid.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4407408"/>
            <a:ext cx="365760" cy="36576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4074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7040"/>
                </a:solidFill>
                <a:latin typeface="Segoe UI Symbol"/>
              </a:rPr>
              <a:t>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44714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recursivelabs.ai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4773168"/>
            <a:ext cx="365760" cy="36576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5B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731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7040"/>
                </a:solidFill>
                <a:latin typeface="Segoe UI Symbol"/>
              </a:rPr>
              <a:t>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83717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martin@recursivelabs.ai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6437376"/>
            <a:ext cx="10762488" cy="0"/>
          </a:xfrm>
          <a:prstGeom prst="line">
            <a:avLst/>
          </a:prstGeom>
          <a:ln w="5080">
            <a:solidFill>
              <a:srgbClr val="E0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3232" y="6492240"/>
            <a:ext cx="201168" cy="201168"/>
          </a:xfrm>
          <a:prstGeom prst="roundRect">
            <a:avLst>
              <a:gd name="adj" fmla="val 7500"/>
            </a:avLst>
          </a:prstGeom>
          <a:noFill/>
          <a:ln w="15240">
            <a:solidFill>
              <a:srgbClr val="F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492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7040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70"/>
                </a:solidFill>
                <a:latin typeface="Aptos"/>
              </a:rPr>
              <a:t>Recursive Labs.    © Proprietary and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